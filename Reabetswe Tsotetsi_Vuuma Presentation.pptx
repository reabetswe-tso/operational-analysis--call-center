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4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FED518-CF94-42F9-B831-984D9C1629C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019732-18C6-417D-B678-D74FE044A2F0}">
      <dgm:prSet/>
      <dgm:spPr/>
      <dgm:t>
        <a:bodyPr/>
        <a:lstStyle/>
        <a:p>
          <a:r>
            <a:rPr lang="en-ZA" dirty="0"/>
            <a:t>Page 1 –  Objectives</a:t>
          </a:r>
          <a:endParaRPr lang="en-US" dirty="0"/>
        </a:p>
      </dgm:t>
    </dgm:pt>
    <dgm:pt modelId="{1BEEF1B8-232C-4F41-AA98-B5CF091D2415}" type="parTrans" cxnId="{DC33945D-F945-418E-8FEA-11AC2865BD23}">
      <dgm:prSet/>
      <dgm:spPr/>
      <dgm:t>
        <a:bodyPr/>
        <a:lstStyle/>
        <a:p>
          <a:endParaRPr lang="en-US"/>
        </a:p>
      </dgm:t>
    </dgm:pt>
    <dgm:pt modelId="{7F66C83A-CF3D-45D0-8FE6-1952CED076D5}" type="sibTrans" cxnId="{DC33945D-F945-418E-8FEA-11AC2865BD23}">
      <dgm:prSet/>
      <dgm:spPr/>
      <dgm:t>
        <a:bodyPr/>
        <a:lstStyle/>
        <a:p>
          <a:endParaRPr lang="en-US"/>
        </a:p>
      </dgm:t>
    </dgm:pt>
    <dgm:pt modelId="{EBD0F880-FDFD-477F-8B2D-74BBC51E8F57}">
      <dgm:prSet/>
      <dgm:spPr/>
      <dgm:t>
        <a:bodyPr/>
        <a:lstStyle/>
        <a:p>
          <a:r>
            <a:rPr lang="en-ZA" dirty="0"/>
            <a:t>Page 2 –  Where is demand</a:t>
          </a:r>
          <a:endParaRPr lang="en-US" dirty="0"/>
        </a:p>
      </dgm:t>
    </dgm:pt>
    <dgm:pt modelId="{6073AD9E-E333-45CE-9665-758EB13749D6}" type="parTrans" cxnId="{696A10EF-95B2-4CEB-9A8B-1477D004CE26}">
      <dgm:prSet/>
      <dgm:spPr/>
      <dgm:t>
        <a:bodyPr/>
        <a:lstStyle/>
        <a:p>
          <a:endParaRPr lang="en-US"/>
        </a:p>
      </dgm:t>
    </dgm:pt>
    <dgm:pt modelId="{AC89AC14-B3C8-471A-AD6B-CC0DEF13D08B}" type="sibTrans" cxnId="{696A10EF-95B2-4CEB-9A8B-1477D004CE26}">
      <dgm:prSet/>
      <dgm:spPr/>
      <dgm:t>
        <a:bodyPr/>
        <a:lstStyle/>
        <a:p>
          <a:endParaRPr lang="en-US"/>
        </a:p>
      </dgm:t>
    </dgm:pt>
    <dgm:pt modelId="{7A269546-F00D-4D73-8798-23B956509538}">
      <dgm:prSet/>
      <dgm:spPr/>
      <dgm:t>
        <a:bodyPr/>
        <a:lstStyle/>
        <a:p>
          <a:r>
            <a:rPr lang="en-ZA" dirty="0"/>
            <a:t>Page 3 –  Overtime vs Shift</a:t>
          </a:r>
          <a:endParaRPr lang="en-US" dirty="0"/>
        </a:p>
      </dgm:t>
    </dgm:pt>
    <dgm:pt modelId="{64F97385-3917-4F8D-AA01-36B9DBB3C135}" type="parTrans" cxnId="{5453C654-49E6-4E21-9493-3D14191BB1DC}">
      <dgm:prSet/>
      <dgm:spPr/>
      <dgm:t>
        <a:bodyPr/>
        <a:lstStyle/>
        <a:p>
          <a:endParaRPr lang="en-US"/>
        </a:p>
      </dgm:t>
    </dgm:pt>
    <dgm:pt modelId="{5AA12FAB-4B5A-4537-844C-14C526DFC82E}" type="sibTrans" cxnId="{5453C654-49E6-4E21-9493-3D14191BB1DC}">
      <dgm:prSet/>
      <dgm:spPr/>
      <dgm:t>
        <a:bodyPr/>
        <a:lstStyle/>
        <a:p>
          <a:endParaRPr lang="en-US"/>
        </a:p>
      </dgm:t>
    </dgm:pt>
    <dgm:pt modelId="{449612E8-BA56-4120-8CFC-0B928DA40352}">
      <dgm:prSet/>
      <dgm:spPr/>
      <dgm:t>
        <a:bodyPr/>
        <a:lstStyle/>
        <a:p>
          <a:r>
            <a:rPr lang="en-ZA" dirty="0"/>
            <a:t>Page 4 -  Team Performance</a:t>
          </a:r>
          <a:endParaRPr lang="en-US" dirty="0"/>
        </a:p>
      </dgm:t>
    </dgm:pt>
    <dgm:pt modelId="{65C9AFEC-A155-49CA-9EFD-3C604D3C6C6C}" type="parTrans" cxnId="{C3D2697B-26A1-482A-837A-CC337130F2A2}">
      <dgm:prSet/>
      <dgm:spPr/>
      <dgm:t>
        <a:bodyPr/>
        <a:lstStyle/>
        <a:p>
          <a:endParaRPr lang="en-US"/>
        </a:p>
      </dgm:t>
    </dgm:pt>
    <dgm:pt modelId="{CE97F4AE-2ED6-4B17-AB3A-CCAB9A7EC7F7}" type="sibTrans" cxnId="{C3D2697B-26A1-482A-837A-CC337130F2A2}">
      <dgm:prSet/>
      <dgm:spPr/>
      <dgm:t>
        <a:bodyPr/>
        <a:lstStyle/>
        <a:p>
          <a:endParaRPr lang="en-US"/>
        </a:p>
      </dgm:t>
    </dgm:pt>
    <dgm:pt modelId="{61B531EA-5008-4917-8BAD-F4C6B3A009E1}">
      <dgm:prSet/>
      <dgm:spPr/>
      <dgm:t>
        <a:bodyPr/>
        <a:lstStyle/>
        <a:p>
          <a:r>
            <a:rPr lang="en-US" dirty="0"/>
            <a:t>Page 5 –  What drives costs</a:t>
          </a:r>
        </a:p>
      </dgm:t>
    </dgm:pt>
    <dgm:pt modelId="{4AB26D4F-A088-49FD-81F5-2F024C8C8DF7}" type="parTrans" cxnId="{27B8C63C-5CAF-45C7-BD08-25D2E72FB8E8}">
      <dgm:prSet/>
      <dgm:spPr/>
      <dgm:t>
        <a:bodyPr/>
        <a:lstStyle/>
        <a:p>
          <a:endParaRPr lang="en-ZA"/>
        </a:p>
      </dgm:t>
    </dgm:pt>
    <dgm:pt modelId="{E89E3449-ADBF-4537-9DD9-211F93C2B88B}" type="sibTrans" cxnId="{27B8C63C-5CAF-45C7-BD08-25D2E72FB8E8}">
      <dgm:prSet/>
      <dgm:spPr/>
      <dgm:t>
        <a:bodyPr/>
        <a:lstStyle/>
        <a:p>
          <a:endParaRPr lang="en-ZA"/>
        </a:p>
      </dgm:t>
    </dgm:pt>
    <dgm:pt modelId="{5F45157B-8680-4717-92C8-7D7B9B12AFE7}">
      <dgm:prSet/>
      <dgm:spPr/>
      <dgm:t>
        <a:bodyPr/>
        <a:lstStyle/>
        <a:p>
          <a:r>
            <a:rPr lang="en-US" dirty="0"/>
            <a:t>Page 6 -  Recommendations</a:t>
          </a:r>
        </a:p>
      </dgm:t>
    </dgm:pt>
    <dgm:pt modelId="{E17D2A45-73C6-49F6-9F88-23D7A9C5FE0A}" type="parTrans" cxnId="{5E93E9FC-2A98-47C2-960A-D15DED5B60BC}">
      <dgm:prSet/>
      <dgm:spPr/>
      <dgm:t>
        <a:bodyPr/>
        <a:lstStyle/>
        <a:p>
          <a:endParaRPr lang="en-ZA"/>
        </a:p>
      </dgm:t>
    </dgm:pt>
    <dgm:pt modelId="{7B079F4F-14B9-48E6-B565-ED6084336F7F}" type="sibTrans" cxnId="{5E93E9FC-2A98-47C2-960A-D15DED5B60BC}">
      <dgm:prSet/>
      <dgm:spPr/>
      <dgm:t>
        <a:bodyPr/>
        <a:lstStyle/>
        <a:p>
          <a:endParaRPr lang="en-ZA"/>
        </a:p>
      </dgm:t>
    </dgm:pt>
    <dgm:pt modelId="{D9C308A3-3AEC-46C1-A423-2C7E2050DF88}">
      <dgm:prSet/>
      <dgm:spPr/>
      <dgm:t>
        <a:bodyPr/>
        <a:lstStyle/>
        <a:p>
          <a:r>
            <a:rPr lang="en-US" dirty="0"/>
            <a:t>Page 7 - Risks</a:t>
          </a:r>
        </a:p>
      </dgm:t>
    </dgm:pt>
    <dgm:pt modelId="{7968E78E-D4D3-4470-9C66-BCC41CEFAE1F}" type="parTrans" cxnId="{721CDB4B-5BE0-4C23-AAFF-3A4D8E080BB3}">
      <dgm:prSet/>
      <dgm:spPr/>
      <dgm:t>
        <a:bodyPr/>
        <a:lstStyle/>
        <a:p>
          <a:endParaRPr lang="en-ZA"/>
        </a:p>
      </dgm:t>
    </dgm:pt>
    <dgm:pt modelId="{85627BF1-9854-437B-8F1D-03EB1EDAC378}" type="sibTrans" cxnId="{721CDB4B-5BE0-4C23-AAFF-3A4D8E080BB3}">
      <dgm:prSet/>
      <dgm:spPr/>
      <dgm:t>
        <a:bodyPr/>
        <a:lstStyle/>
        <a:p>
          <a:endParaRPr lang="en-ZA"/>
        </a:p>
      </dgm:t>
    </dgm:pt>
    <dgm:pt modelId="{C9D959AE-D65D-4ED1-8C07-87652970C07C}" type="pres">
      <dgm:prSet presAssocID="{8BFED518-CF94-42F9-B831-984D9C1629CE}" presName="vert0" presStyleCnt="0">
        <dgm:presLayoutVars>
          <dgm:dir/>
          <dgm:animOne val="branch"/>
          <dgm:animLvl val="lvl"/>
        </dgm:presLayoutVars>
      </dgm:prSet>
      <dgm:spPr/>
    </dgm:pt>
    <dgm:pt modelId="{1D9A98A4-D719-4D4E-AFF9-44A5CA0E473D}" type="pres">
      <dgm:prSet presAssocID="{B8019732-18C6-417D-B678-D74FE044A2F0}" presName="thickLine" presStyleLbl="alignNode1" presStyleIdx="0" presStyleCnt="7"/>
      <dgm:spPr/>
    </dgm:pt>
    <dgm:pt modelId="{AC750207-3DBF-4838-B097-6671C791B1C1}" type="pres">
      <dgm:prSet presAssocID="{B8019732-18C6-417D-B678-D74FE044A2F0}" presName="horz1" presStyleCnt="0"/>
      <dgm:spPr/>
    </dgm:pt>
    <dgm:pt modelId="{2EC48061-7D85-4ADC-BEF8-E067EE291F55}" type="pres">
      <dgm:prSet presAssocID="{B8019732-18C6-417D-B678-D74FE044A2F0}" presName="tx1" presStyleLbl="revTx" presStyleIdx="0" presStyleCnt="7"/>
      <dgm:spPr/>
    </dgm:pt>
    <dgm:pt modelId="{FB6864E4-DA9F-4323-A034-A60939E5EA57}" type="pres">
      <dgm:prSet presAssocID="{B8019732-18C6-417D-B678-D74FE044A2F0}" presName="vert1" presStyleCnt="0"/>
      <dgm:spPr/>
    </dgm:pt>
    <dgm:pt modelId="{33C39C50-A56D-4590-BF90-78C679A6CEC3}" type="pres">
      <dgm:prSet presAssocID="{EBD0F880-FDFD-477F-8B2D-74BBC51E8F57}" presName="thickLine" presStyleLbl="alignNode1" presStyleIdx="1" presStyleCnt="7"/>
      <dgm:spPr/>
    </dgm:pt>
    <dgm:pt modelId="{BABE3BD4-8B90-4B34-AC06-3ECCF49DF479}" type="pres">
      <dgm:prSet presAssocID="{EBD0F880-FDFD-477F-8B2D-74BBC51E8F57}" presName="horz1" presStyleCnt="0"/>
      <dgm:spPr/>
    </dgm:pt>
    <dgm:pt modelId="{693C0D8E-3B80-40B8-B00B-8667EC9EB7F8}" type="pres">
      <dgm:prSet presAssocID="{EBD0F880-FDFD-477F-8B2D-74BBC51E8F57}" presName="tx1" presStyleLbl="revTx" presStyleIdx="1" presStyleCnt="7"/>
      <dgm:spPr/>
    </dgm:pt>
    <dgm:pt modelId="{61E95D54-5B43-4FA3-83DA-6F8EAB67B5DE}" type="pres">
      <dgm:prSet presAssocID="{EBD0F880-FDFD-477F-8B2D-74BBC51E8F57}" presName="vert1" presStyleCnt="0"/>
      <dgm:spPr/>
    </dgm:pt>
    <dgm:pt modelId="{89A3F5C1-B872-4D20-A3EA-5A1BF2381179}" type="pres">
      <dgm:prSet presAssocID="{7A269546-F00D-4D73-8798-23B956509538}" presName="thickLine" presStyleLbl="alignNode1" presStyleIdx="2" presStyleCnt="7"/>
      <dgm:spPr/>
    </dgm:pt>
    <dgm:pt modelId="{23B77C6C-FE73-4432-AD16-DD547D13E898}" type="pres">
      <dgm:prSet presAssocID="{7A269546-F00D-4D73-8798-23B956509538}" presName="horz1" presStyleCnt="0"/>
      <dgm:spPr/>
    </dgm:pt>
    <dgm:pt modelId="{4D2493AC-ABC3-4C0C-9E0F-3CA239568A92}" type="pres">
      <dgm:prSet presAssocID="{7A269546-F00D-4D73-8798-23B956509538}" presName="tx1" presStyleLbl="revTx" presStyleIdx="2" presStyleCnt="7"/>
      <dgm:spPr/>
    </dgm:pt>
    <dgm:pt modelId="{E8FC22A1-DFF6-482D-AF08-ABE14A442395}" type="pres">
      <dgm:prSet presAssocID="{7A269546-F00D-4D73-8798-23B956509538}" presName="vert1" presStyleCnt="0"/>
      <dgm:spPr/>
    </dgm:pt>
    <dgm:pt modelId="{3C5B386D-AFBD-4B39-BCAC-98C8D205C964}" type="pres">
      <dgm:prSet presAssocID="{449612E8-BA56-4120-8CFC-0B928DA40352}" presName="thickLine" presStyleLbl="alignNode1" presStyleIdx="3" presStyleCnt="7"/>
      <dgm:spPr/>
    </dgm:pt>
    <dgm:pt modelId="{B33707E5-373E-4625-B722-B7487EDEEB56}" type="pres">
      <dgm:prSet presAssocID="{449612E8-BA56-4120-8CFC-0B928DA40352}" presName="horz1" presStyleCnt="0"/>
      <dgm:spPr/>
    </dgm:pt>
    <dgm:pt modelId="{E6C8A5ED-CBC2-4040-83AB-A1A1014302C9}" type="pres">
      <dgm:prSet presAssocID="{449612E8-BA56-4120-8CFC-0B928DA40352}" presName="tx1" presStyleLbl="revTx" presStyleIdx="3" presStyleCnt="7"/>
      <dgm:spPr/>
    </dgm:pt>
    <dgm:pt modelId="{C11BC301-C280-4457-8816-3BA58E3581AB}" type="pres">
      <dgm:prSet presAssocID="{449612E8-BA56-4120-8CFC-0B928DA40352}" presName="vert1" presStyleCnt="0"/>
      <dgm:spPr/>
    </dgm:pt>
    <dgm:pt modelId="{CDA13E7C-65FA-473F-A3D7-BDEF566E7CA0}" type="pres">
      <dgm:prSet presAssocID="{61B531EA-5008-4917-8BAD-F4C6B3A009E1}" presName="thickLine" presStyleLbl="alignNode1" presStyleIdx="4" presStyleCnt="7"/>
      <dgm:spPr/>
    </dgm:pt>
    <dgm:pt modelId="{0F037247-1C9A-4D07-AC56-CB91872C245D}" type="pres">
      <dgm:prSet presAssocID="{61B531EA-5008-4917-8BAD-F4C6B3A009E1}" presName="horz1" presStyleCnt="0"/>
      <dgm:spPr/>
    </dgm:pt>
    <dgm:pt modelId="{39BCA148-97D7-44B2-B1E9-31867CA6322C}" type="pres">
      <dgm:prSet presAssocID="{61B531EA-5008-4917-8BAD-F4C6B3A009E1}" presName="tx1" presStyleLbl="revTx" presStyleIdx="4" presStyleCnt="7"/>
      <dgm:spPr/>
    </dgm:pt>
    <dgm:pt modelId="{5E2349FC-7A18-4A8C-A330-83559371D899}" type="pres">
      <dgm:prSet presAssocID="{61B531EA-5008-4917-8BAD-F4C6B3A009E1}" presName="vert1" presStyleCnt="0"/>
      <dgm:spPr/>
    </dgm:pt>
    <dgm:pt modelId="{06833E41-365A-44BA-839F-2219854406B7}" type="pres">
      <dgm:prSet presAssocID="{5F45157B-8680-4717-92C8-7D7B9B12AFE7}" presName="thickLine" presStyleLbl="alignNode1" presStyleIdx="5" presStyleCnt="7"/>
      <dgm:spPr/>
    </dgm:pt>
    <dgm:pt modelId="{16B9B03B-3E65-4EC4-8638-BA255E127492}" type="pres">
      <dgm:prSet presAssocID="{5F45157B-8680-4717-92C8-7D7B9B12AFE7}" presName="horz1" presStyleCnt="0"/>
      <dgm:spPr/>
    </dgm:pt>
    <dgm:pt modelId="{84455C6E-44D9-42FB-BF42-EB33D1632D70}" type="pres">
      <dgm:prSet presAssocID="{5F45157B-8680-4717-92C8-7D7B9B12AFE7}" presName="tx1" presStyleLbl="revTx" presStyleIdx="5" presStyleCnt="7"/>
      <dgm:spPr/>
    </dgm:pt>
    <dgm:pt modelId="{09F49C2D-FDD4-498B-92B0-A8F0D574DE1C}" type="pres">
      <dgm:prSet presAssocID="{5F45157B-8680-4717-92C8-7D7B9B12AFE7}" presName="vert1" presStyleCnt="0"/>
      <dgm:spPr/>
    </dgm:pt>
    <dgm:pt modelId="{5D82CBCE-EAFE-4B3A-8B9C-BF1C1310C777}" type="pres">
      <dgm:prSet presAssocID="{D9C308A3-3AEC-46C1-A423-2C7E2050DF88}" presName="thickLine" presStyleLbl="alignNode1" presStyleIdx="6" presStyleCnt="7"/>
      <dgm:spPr/>
    </dgm:pt>
    <dgm:pt modelId="{930C0BDA-713A-4373-A787-2FDB4670724D}" type="pres">
      <dgm:prSet presAssocID="{D9C308A3-3AEC-46C1-A423-2C7E2050DF88}" presName="horz1" presStyleCnt="0"/>
      <dgm:spPr/>
    </dgm:pt>
    <dgm:pt modelId="{1A33D404-E49A-4CA5-A96E-6B8C7C4AEBD9}" type="pres">
      <dgm:prSet presAssocID="{D9C308A3-3AEC-46C1-A423-2C7E2050DF88}" presName="tx1" presStyleLbl="revTx" presStyleIdx="6" presStyleCnt="7"/>
      <dgm:spPr/>
    </dgm:pt>
    <dgm:pt modelId="{9D6BB8CD-E29D-4A92-9C33-AE69410E6AF0}" type="pres">
      <dgm:prSet presAssocID="{D9C308A3-3AEC-46C1-A423-2C7E2050DF88}" presName="vert1" presStyleCnt="0"/>
      <dgm:spPr/>
    </dgm:pt>
  </dgm:ptLst>
  <dgm:cxnLst>
    <dgm:cxn modelId="{07DAA00B-BC8D-404F-8F5F-F155EE1D65BA}" type="presOf" srcId="{7A269546-F00D-4D73-8798-23B956509538}" destId="{4D2493AC-ABC3-4C0C-9E0F-3CA239568A92}" srcOrd="0" destOrd="0" presId="urn:microsoft.com/office/officeart/2008/layout/LinedList"/>
    <dgm:cxn modelId="{036DE31B-9020-433D-8EB1-06776868E4BC}" type="presOf" srcId="{B8019732-18C6-417D-B678-D74FE044A2F0}" destId="{2EC48061-7D85-4ADC-BEF8-E067EE291F55}" srcOrd="0" destOrd="0" presId="urn:microsoft.com/office/officeart/2008/layout/LinedList"/>
    <dgm:cxn modelId="{85B09D34-7717-4C83-9818-387D4F24AF31}" type="presOf" srcId="{5F45157B-8680-4717-92C8-7D7B9B12AFE7}" destId="{84455C6E-44D9-42FB-BF42-EB33D1632D70}" srcOrd="0" destOrd="0" presId="urn:microsoft.com/office/officeart/2008/layout/LinedList"/>
    <dgm:cxn modelId="{27B8C63C-5CAF-45C7-BD08-25D2E72FB8E8}" srcId="{8BFED518-CF94-42F9-B831-984D9C1629CE}" destId="{61B531EA-5008-4917-8BAD-F4C6B3A009E1}" srcOrd="4" destOrd="0" parTransId="{4AB26D4F-A088-49FD-81F5-2F024C8C8DF7}" sibTransId="{E89E3449-ADBF-4537-9DD9-211F93C2B88B}"/>
    <dgm:cxn modelId="{DC33945D-F945-418E-8FEA-11AC2865BD23}" srcId="{8BFED518-CF94-42F9-B831-984D9C1629CE}" destId="{B8019732-18C6-417D-B678-D74FE044A2F0}" srcOrd="0" destOrd="0" parTransId="{1BEEF1B8-232C-4F41-AA98-B5CF091D2415}" sibTransId="{7F66C83A-CF3D-45D0-8FE6-1952CED076D5}"/>
    <dgm:cxn modelId="{9DC0BA47-7E11-41A6-AEFA-C89829CF9EAB}" type="presOf" srcId="{EBD0F880-FDFD-477F-8B2D-74BBC51E8F57}" destId="{693C0D8E-3B80-40B8-B00B-8667EC9EB7F8}" srcOrd="0" destOrd="0" presId="urn:microsoft.com/office/officeart/2008/layout/LinedList"/>
    <dgm:cxn modelId="{721CDB4B-5BE0-4C23-AAFF-3A4D8E080BB3}" srcId="{8BFED518-CF94-42F9-B831-984D9C1629CE}" destId="{D9C308A3-3AEC-46C1-A423-2C7E2050DF88}" srcOrd="6" destOrd="0" parTransId="{7968E78E-D4D3-4470-9C66-BCC41CEFAE1F}" sibTransId="{85627BF1-9854-437B-8F1D-03EB1EDAC378}"/>
    <dgm:cxn modelId="{5453C654-49E6-4E21-9493-3D14191BB1DC}" srcId="{8BFED518-CF94-42F9-B831-984D9C1629CE}" destId="{7A269546-F00D-4D73-8798-23B956509538}" srcOrd="2" destOrd="0" parTransId="{64F97385-3917-4F8D-AA01-36B9DBB3C135}" sibTransId="{5AA12FAB-4B5A-4537-844C-14C526DFC82E}"/>
    <dgm:cxn modelId="{B2A0E759-0CAE-430A-9F7F-3052C53A5549}" type="presOf" srcId="{61B531EA-5008-4917-8BAD-F4C6B3A009E1}" destId="{39BCA148-97D7-44B2-B1E9-31867CA6322C}" srcOrd="0" destOrd="0" presId="urn:microsoft.com/office/officeart/2008/layout/LinedList"/>
    <dgm:cxn modelId="{C3D2697B-26A1-482A-837A-CC337130F2A2}" srcId="{8BFED518-CF94-42F9-B831-984D9C1629CE}" destId="{449612E8-BA56-4120-8CFC-0B928DA40352}" srcOrd="3" destOrd="0" parTransId="{65C9AFEC-A155-49CA-9EFD-3C604D3C6C6C}" sibTransId="{CE97F4AE-2ED6-4B17-AB3A-CCAB9A7EC7F7}"/>
    <dgm:cxn modelId="{D80F2689-2061-4B47-A1F6-0BC62B3B77BF}" type="presOf" srcId="{8BFED518-CF94-42F9-B831-984D9C1629CE}" destId="{C9D959AE-D65D-4ED1-8C07-87652970C07C}" srcOrd="0" destOrd="0" presId="urn:microsoft.com/office/officeart/2008/layout/LinedList"/>
    <dgm:cxn modelId="{EE7617C8-1B8C-4B24-BD3B-38D0988839A9}" type="presOf" srcId="{D9C308A3-3AEC-46C1-A423-2C7E2050DF88}" destId="{1A33D404-E49A-4CA5-A96E-6B8C7C4AEBD9}" srcOrd="0" destOrd="0" presId="urn:microsoft.com/office/officeart/2008/layout/LinedList"/>
    <dgm:cxn modelId="{696A10EF-95B2-4CEB-9A8B-1477D004CE26}" srcId="{8BFED518-CF94-42F9-B831-984D9C1629CE}" destId="{EBD0F880-FDFD-477F-8B2D-74BBC51E8F57}" srcOrd="1" destOrd="0" parTransId="{6073AD9E-E333-45CE-9665-758EB13749D6}" sibTransId="{AC89AC14-B3C8-471A-AD6B-CC0DEF13D08B}"/>
    <dgm:cxn modelId="{F9FD33FA-DFE8-4D9A-AFF5-3591634512E0}" type="presOf" srcId="{449612E8-BA56-4120-8CFC-0B928DA40352}" destId="{E6C8A5ED-CBC2-4040-83AB-A1A1014302C9}" srcOrd="0" destOrd="0" presId="urn:microsoft.com/office/officeart/2008/layout/LinedList"/>
    <dgm:cxn modelId="{5E93E9FC-2A98-47C2-960A-D15DED5B60BC}" srcId="{8BFED518-CF94-42F9-B831-984D9C1629CE}" destId="{5F45157B-8680-4717-92C8-7D7B9B12AFE7}" srcOrd="5" destOrd="0" parTransId="{E17D2A45-73C6-49F6-9F88-23D7A9C5FE0A}" sibTransId="{7B079F4F-14B9-48E6-B565-ED6084336F7F}"/>
    <dgm:cxn modelId="{9E0D3275-2890-48C3-B063-FFE2B2646D1B}" type="presParOf" srcId="{C9D959AE-D65D-4ED1-8C07-87652970C07C}" destId="{1D9A98A4-D719-4D4E-AFF9-44A5CA0E473D}" srcOrd="0" destOrd="0" presId="urn:microsoft.com/office/officeart/2008/layout/LinedList"/>
    <dgm:cxn modelId="{F570F234-3D9C-403E-8BB5-9A9495FA569C}" type="presParOf" srcId="{C9D959AE-D65D-4ED1-8C07-87652970C07C}" destId="{AC750207-3DBF-4838-B097-6671C791B1C1}" srcOrd="1" destOrd="0" presId="urn:microsoft.com/office/officeart/2008/layout/LinedList"/>
    <dgm:cxn modelId="{59BC318A-FD53-42D4-A304-29E45D986A2D}" type="presParOf" srcId="{AC750207-3DBF-4838-B097-6671C791B1C1}" destId="{2EC48061-7D85-4ADC-BEF8-E067EE291F55}" srcOrd="0" destOrd="0" presId="urn:microsoft.com/office/officeart/2008/layout/LinedList"/>
    <dgm:cxn modelId="{6AA694B6-3D99-48AB-BAEF-1C813C8DFDBC}" type="presParOf" srcId="{AC750207-3DBF-4838-B097-6671C791B1C1}" destId="{FB6864E4-DA9F-4323-A034-A60939E5EA57}" srcOrd="1" destOrd="0" presId="urn:microsoft.com/office/officeart/2008/layout/LinedList"/>
    <dgm:cxn modelId="{EDF6DF88-3A64-4E73-9AC5-7B425E25C7CF}" type="presParOf" srcId="{C9D959AE-D65D-4ED1-8C07-87652970C07C}" destId="{33C39C50-A56D-4590-BF90-78C679A6CEC3}" srcOrd="2" destOrd="0" presId="urn:microsoft.com/office/officeart/2008/layout/LinedList"/>
    <dgm:cxn modelId="{ACB209A6-F381-48F0-974D-8CAD52737D47}" type="presParOf" srcId="{C9D959AE-D65D-4ED1-8C07-87652970C07C}" destId="{BABE3BD4-8B90-4B34-AC06-3ECCF49DF479}" srcOrd="3" destOrd="0" presId="urn:microsoft.com/office/officeart/2008/layout/LinedList"/>
    <dgm:cxn modelId="{EB4BF10A-E0E9-48BE-9810-53F8655F4763}" type="presParOf" srcId="{BABE3BD4-8B90-4B34-AC06-3ECCF49DF479}" destId="{693C0D8E-3B80-40B8-B00B-8667EC9EB7F8}" srcOrd="0" destOrd="0" presId="urn:microsoft.com/office/officeart/2008/layout/LinedList"/>
    <dgm:cxn modelId="{0461D9F7-8BE0-4ABF-B321-8FFF053B47AE}" type="presParOf" srcId="{BABE3BD4-8B90-4B34-AC06-3ECCF49DF479}" destId="{61E95D54-5B43-4FA3-83DA-6F8EAB67B5DE}" srcOrd="1" destOrd="0" presId="urn:microsoft.com/office/officeart/2008/layout/LinedList"/>
    <dgm:cxn modelId="{993E1281-8D27-42E7-AFDA-C97A75BFF531}" type="presParOf" srcId="{C9D959AE-D65D-4ED1-8C07-87652970C07C}" destId="{89A3F5C1-B872-4D20-A3EA-5A1BF2381179}" srcOrd="4" destOrd="0" presId="urn:microsoft.com/office/officeart/2008/layout/LinedList"/>
    <dgm:cxn modelId="{9BF83B7E-C603-4B2C-A267-818EE3A3A4B4}" type="presParOf" srcId="{C9D959AE-D65D-4ED1-8C07-87652970C07C}" destId="{23B77C6C-FE73-4432-AD16-DD547D13E898}" srcOrd="5" destOrd="0" presId="urn:microsoft.com/office/officeart/2008/layout/LinedList"/>
    <dgm:cxn modelId="{AD9E7951-DDC5-4C87-AD4C-F1601C22651A}" type="presParOf" srcId="{23B77C6C-FE73-4432-AD16-DD547D13E898}" destId="{4D2493AC-ABC3-4C0C-9E0F-3CA239568A92}" srcOrd="0" destOrd="0" presId="urn:microsoft.com/office/officeart/2008/layout/LinedList"/>
    <dgm:cxn modelId="{993FC9E3-13BE-4D44-8E30-36F624E3E452}" type="presParOf" srcId="{23B77C6C-FE73-4432-AD16-DD547D13E898}" destId="{E8FC22A1-DFF6-482D-AF08-ABE14A442395}" srcOrd="1" destOrd="0" presId="urn:microsoft.com/office/officeart/2008/layout/LinedList"/>
    <dgm:cxn modelId="{20D0A85B-30F4-4352-AB8D-0DE9DA723626}" type="presParOf" srcId="{C9D959AE-D65D-4ED1-8C07-87652970C07C}" destId="{3C5B386D-AFBD-4B39-BCAC-98C8D205C964}" srcOrd="6" destOrd="0" presId="urn:microsoft.com/office/officeart/2008/layout/LinedList"/>
    <dgm:cxn modelId="{864CFAB8-5400-4313-9472-D207F8C04BE9}" type="presParOf" srcId="{C9D959AE-D65D-4ED1-8C07-87652970C07C}" destId="{B33707E5-373E-4625-B722-B7487EDEEB56}" srcOrd="7" destOrd="0" presId="urn:microsoft.com/office/officeart/2008/layout/LinedList"/>
    <dgm:cxn modelId="{55017A2A-43F4-42F8-B3DD-79696AEB874D}" type="presParOf" srcId="{B33707E5-373E-4625-B722-B7487EDEEB56}" destId="{E6C8A5ED-CBC2-4040-83AB-A1A1014302C9}" srcOrd="0" destOrd="0" presId="urn:microsoft.com/office/officeart/2008/layout/LinedList"/>
    <dgm:cxn modelId="{B3172A5C-5DFD-4FCA-A643-D9B49642E642}" type="presParOf" srcId="{B33707E5-373E-4625-B722-B7487EDEEB56}" destId="{C11BC301-C280-4457-8816-3BA58E3581AB}" srcOrd="1" destOrd="0" presId="urn:microsoft.com/office/officeart/2008/layout/LinedList"/>
    <dgm:cxn modelId="{5106A12C-F0D0-49E6-80A9-75AA1F4ECEF2}" type="presParOf" srcId="{C9D959AE-D65D-4ED1-8C07-87652970C07C}" destId="{CDA13E7C-65FA-473F-A3D7-BDEF566E7CA0}" srcOrd="8" destOrd="0" presId="urn:microsoft.com/office/officeart/2008/layout/LinedList"/>
    <dgm:cxn modelId="{A633A8FA-9101-4988-98D4-213E9760D1ED}" type="presParOf" srcId="{C9D959AE-D65D-4ED1-8C07-87652970C07C}" destId="{0F037247-1C9A-4D07-AC56-CB91872C245D}" srcOrd="9" destOrd="0" presId="urn:microsoft.com/office/officeart/2008/layout/LinedList"/>
    <dgm:cxn modelId="{382C8FEB-9A2B-4AAB-9683-EF160B245A9F}" type="presParOf" srcId="{0F037247-1C9A-4D07-AC56-CB91872C245D}" destId="{39BCA148-97D7-44B2-B1E9-31867CA6322C}" srcOrd="0" destOrd="0" presId="urn:microsoft.com/office/officeart/2008/layout/LinedList"/>
    <dgm:cxn modelId="{D11A0C07-293C-4C4D-9126-2FD43B958612}" type="presParOf" srcId="{0F037247-1C9A-4D07-AC56-CB91872C245D}" destId="{5E2349FC-7A18-4A8C-A330-83559371D899}" srcOrd="1" destOrd="0" presId="urn:microsoft.com/office/officeart/2008/layout/LinedList"/>
    <dgm:cxn modelId="{EEA7B322-F063-4F3A-AA5E-1BC19AA8B0F6}" type="presParOf" srcId="{C9D959AE-D65D-4ED1-8C07-87652970C07C}" destId="{06833E41-365A-44BA-839F-2219854406B7}" srcOrd="10" destOrd="0" presId="urn:microsoft.com/office/officeart/2008/layout/LinedList"/>
    <dgm:cxn modelId="{61D48624-96EE-4951-BD2D-DF4C54583CE3}" type="presParOf" srcId="{C9D959AE-D65D-4ED1-8C07-87652970C07C}" destId="{16B9B03B-3E65-4EC4-8638-BA255E127492}" srcOrd="11" destOrd="0" presId="urn:microsoft.com/office/officeart/2008/layout/LinedList"/>
    <dgm:cxn modelId="{20E257A8-BFE1-4151-ACE2-DA0B527CE9FF}" type="presParOf" srcId="{16B9B03B-3E65-4EC4-8638-BA255E127492}" destId="{84455C6E-44D9-42FB-BF42-EB33D1632D70}" srcOrd="0" destOrd="0" presId="urn:microsoft.com/office/officeart/2008/layout/LinedList"/>
    <dgm:cxn modelId="{7C65EFB4-7191-4353-B3CD-150EFE3C707B}" type="presParOf" srcId="{16B9B03B-3E65-4EC4-8638-BA255E127492}" destId="{09F49C2D-FDD4-498B-92B0-A8F0D574DE1C}" srcOrd="1" destOrd="0" presId="urn:microsoft.com/office/officeart/2008/layout/LinedList"/>
    <dgm:cxn modelId="{5D5AD055-0FB6-49EF-8342-575FB2A471EE}" type="presParOf" srcId="{C9D959AE-D65D-4ED1-8C07-87652970C07C}" destId="{5D82CBCE-EAFE-4B3A-8B9C-BF1C1310C777}" srcOrd="12" destOrd="0" presId="urn:microsoft.com/office/officeart/2008/layout/LinedList"/>
    <dgm:cxn modelId="{22DC97EF-7F3E-4721-9CED-FE8BCC37AD5C}" type="presParOf" srcId="{C9D959AE-D65D-4ED1-8C07-87652970C07C}" destId="{930C0BDA-713A-4373-A787-2FDB4670724D}" srcOrd="13" destOrd="0" presId="urn:microsoft.com/office/officeart/2008/layout/LinedList"/>
    <dgm:cxn modelId="{6358E513-E8A8-4615-800F-53ABCE697442}" type="presParOf" srcId="{930C0BDA-713A-4373-A787-2FDB4670724D}" destId="{1A33D404-E49A-4CA5-A96E-6B8C7C4AEBD9}" srcOrd="0" destOrd="0" presId="urn:microsoft.com/office/officeart/2008/layout/LinedList"/>
    <dgm:cxn modelId="{5F78D4C3-A137-4716-BDF9-E45BF1DB6E8F}" type="presParOf" srcId="{930C0BDA-713A-4373-A787-2FDB4670724D}" destId="{9D6BB8CD-E29D-4A92-9C33-AE69410E6AF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A98A4-D719-4D4E-AFF9-44A5CA0E473D}">
      <dsp:nvSpPr>
        <dsp:cNvPr id="0" name=""/>
        <dsp:cNvSpPr/>
      </dsp:nvSpPr>
      <dsp:spPr>
        <a:xfrm>
          <a:off x="0" y="473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C48061-7D85-4ADC-BEF8-E067EE291F55}">
      <dsp:nvSpPr>
        <dsp:cNvPr id="0" name=""/>
        <dsp:cNvSpPr/>
      </dsp:nvSpPr>
      <dsp:spPr>
        <a:xfrm>
          <a:off x="0" y="473"/>
          <a:ext cx="8596668" cy="554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kern="1200" dirty="0"/>
            <a:t>Page 1 –  Objectives</a:t>
          </a:r>
          <a:endParaRPr lang="en-US" sz="2600" kern="1200" dirty="0"/>
        </a:p>
      </dsp:txBody>
      <dsp:txXfrm>
        <a:off x="0" y="473"/>
        <a:ext cx="8596668" cy="554260"/>
      </dsp:txXfrm>
    </dsp:sp>
    <dsp:sp modelId="{33C39C50-A56D-4590-BF90-78C679A6CEC3}">
      <dsp:nvSpPr>
        <dsp:cNvPr id="0" name=""/>
        <dsp:cNvSpPr/>
      </dsp:nvSpPr>
      <dsp:spPr>
        <a:xfrm>
          <a:off x="0" y="554734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C0D8E-3B80-40B8-B00B-8667EC9EB7F8}">
      <dsp:nvSpPr>
        <dsp:cNvPr id="0" name=""/>
        <dsp:cNvSpPr/>
      </dsp:nvSpPr>
      <dsp:spPr>
        <a:xfrm>
          <a:off x="0" y="554734"/>
          <a:ext cx="8596668" cy="554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kern="1200" dirty="0"/>
            <a:t>Page 2 –  Where is demand</a:t>
          </a:r>
          <a:endParaRPr lang="en-US" sz="2600" kern="1200" dirty="0"/>
        </a:p>
      </dsp:txBody>
      <dsp:txXfrm>
        <a:off x="0" y="554734"/>
        <a:ext cx="8596668" cy="554260"/>
      </dsp:txXfrm>
    </dsp:sp>
    <dsp:sp modelId="{89A3F5C1-B872-4D20-A3EA-5A1BF2381179}">
      <dsp:nvSpPr>
        <dsp:cNvPr id="0" name=""/>
        <dsp:cNvSpPr/>
      </dsp:nvSpPr>
      <dsp:spPr>
        <a:xfrm>
          <a:off x="0" y="1108995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493AC-ABC3-4C0C-9E0F-3CA239568A92}">
      <dsp:nvSpPr>
        <dsp:cNvPr id="0" name=""/>
        <dsp:cNvSpPr/>
      </dsp:nvSpPr>
      <dsp:spPr>
        <a:xfrm>
          <a:off x="0" y="1108995"/>
          <a:ext cx="8596668" cy="554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kern="1200" dirty="0"/>
            <a:t>Page 3 –  Overtime vs Shift</a:t>
          </a:r>
          <a:endParaRPr lang="en-US" sz="2600" kern="1200" dirty="0"/>
        </a:p>
      </dsp:txBody>
      <dsp:txXfrm>
        <a:off x="0" y="1108995"/>
        <a:ext cx="8596668" cy="554260"/>
      </dsp:txXfrm>
    </dsp:sp>
    <dsp:sp modelId="{3C5B386D-AFBD-4B39-BCAC-98C8D205C964}">
      <dsp:nvSpPr>
        <dsp:cNvPr id="0" name=""/>
        <dsp:cNvSpPr/>
      </dsp:nvSpPr>
      <dsp:spPr>
        <a:xfrm>
          <a:off x="0" y="1663256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8A5ED-CBC2-4040-83AB-A1A1014302C9}">
      <dsp:nvSpPr>
        <dsp:cNvPr id="0" name=""/>
        <dsp:cNvSpPr/>
      </dsp:nvSpPr>
      <dsp:spPr>
        <a:xfrm>
          <a:off x="0" y="1663256"/>
          <a:ext cx="8596668" cy="554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kern="1200" dirty="0"/>
            <a:t>Page 4 -  Team Performance</a:t>
          </a:r>
          <a:endParaRPr lang="en-US" sz="2600" kern="1200" dirty="0"/>
        </a:p>
      </dsp:txBody>
      <dsp:txXfrm>
        <a:off x="0" y="1663256"/>
        <a:ext cx="8596668" cy="554260"/>
      </dsp:txXfrm>
    </dsp:sp>
    <dsp:sp modelId="{CDA13E7C-65FA-473F-A3D7-BDEF566E7CA0}">
      <dsp:nvSpPr>
        <dsp:cNvPr id="0" name=""/>
        <dsp:cNvSpPr/>
      </dsp:nvSpPr>
      <dsp:spPr>
        <a:xfrm>
          <a:off x="0" y="2217516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CA148-97D7-44B2-B1E9-31867CA6322C}">
      <dsp:nvSpPr>
        <dsp:cNvPr id="0" name=""/>
        <dsp:cNvSpPr/>
      </dsp:nvSpPr>
      <dsp:spPr>
        <a:xfrm>
          <a:off x="0" y="2217516"/>
          <a:ext cx="8596668" cy="554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Page 5 –  What drives costs</a:t>
          </a:r>
        </a:p>
      </dsp:txBody>
      <dsp:txXfrm>
        <a:off x="0" y="2217516"/>
        <a:ext cx="8596668" cy="554260"/>
      </dsp:txXfrm>
    </dsp:sp>
    <dsp:sp modelId="{06833E41-365A-44BA-839F-2219854406B7}">
      <dsp:nvSpPr>
        <dsp:cNvPr id="0" name=""/>
        <dsp:cNvSpPr/>
      </dsp:nvSpPr>
      <dsp:spPr>
        <a:xfrm>
          <a:off x="0" y="2771777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55C6E-44D9-42FB-BF42-EB33D1632D70}">
      <dsp:nvSpPr>
        <dsp:cNvPr id="0" name=""/>
        <dsp:cNvSpPr/>
      </dsp:nvSpPr>
      <dsp:spPr>
        <a:xfrm>
          <a:off x="0" y="2771777"/>
          <a:ext cx="8596668" cy="554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Page 6 -  Recommendations</a:t>
          </a:r>
        </a:p>
      </dsp:txBody>
      <dsp:txXfrm>
        <a:off x="0" y="2771777"/>
        <a:ext cx="8596668" cy="554260"/>
      </dsp:txXfrm>
    </dsp:sp>
    <dsp:sp modelId="{5D82CBCE-EAFE-4B3A-8B9C-BF1C1310C777}">
      <dsp:nvSpPr>
        <dsp:cNvPr id="0" name=""/>
        <dsp:cNvSpPr/>
      </dsp:nvSpPr>
      <dsp:spPr>
        <a:xfrm>
          <a:off x="0" y="3326038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3D404-E49A-4CA5-A96E-6B8C7C4AEBD9}">
      <dsp:nvSpPr>
        <dsp:cNvPr id="0" name=""/>
        <dsp:cNvSpPr/>
      </dsp:nvSpPr>
      <dsp:spPr>
        <a:xfrm>
          <a:off x="0" y="3326038"/>
          <a:ext cx="8596668" cy="554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Page 7 - Risks</a:t>
          </a:r>
        </a:p>
      </dsp:txBody>
      <dsp:txXfrm>
        <a:off x="0" y="3326038"/>
        <a:ext cx="8596668" cy="554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CA01C-0486-49BA-B3ED-96A7B2AEBB99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6469E-EC58-4F0F-B0C5-916D0BD731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20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6469E-EC58-4F0F-B0C5-916D0BD73123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2595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280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031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628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4287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251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776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090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1412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1477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863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2620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8461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9090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4636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2882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189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F2115-377D-4930-BDE8-CE9717E2C97E}" type="datetimeFigureOut">
              <a:rPr lang="en-ZA" smtClean="0"/>
              <a:t>2026/02/20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269CE5-EA69-4EB5-83B9-9FE541AC20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21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2CEDCC-EC29-A94A-D456-C8AC9B1D3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13" r="-2" b="-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0945B1-294D-58BB-0A2B-C09960A3D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67" y="1678666"/>
            <a:ext cx="4088190" cy="2369093"/>
          </a:xfrm>
        </p:spPr>
        <p:txBody>
          <a:bodyPr>
            <a:normAutofit/>
          </a:bodyPr>
          <a:lstStyle/>
          <a:p>
            <a:r>
              <a:rPr lang="en-ZA" sz="4800" dirty="0" err="1"/>
              <a:t>ConnectTel</a:t>
            </a:r>
            <a:r>
              <a:rPr lang="en-ZA" sz="4800" dirty="0"/>
              <a:t> Call Centre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93B6A-E55A-3080-0ACD-585510065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4079721" cy="1096901"/>
          </a:xfrm>
        </p:spPr>
        <p:txBody>
          <a:bodyPr>
            <a:normAutofit/>
          </a:bodyPr>
          <a:lstStyle/>
          <a:p>
            <a:r>
              <a:rPr lang="en-ZA" sz="1600" dirty="0" err="1"/>
              <a:t>Vuuma</a:t>
            </a:r>
            <a:r>
              <a:rPr lang="en-ZA" sz="1600" dirty="0"/>
              <a:t> Presentation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556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C98C-BC55-8373-2502-43737966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TABLE OF 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5B5C7D-EECB-792B-79AC-0A6FE82DA3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5895602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1892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F0AF1-390C-B23B-1C7C-BCA2A17E5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ZA" dirty="0"/>
              <a:t>Objectives</a:t>
            </a:r>
            <a:br>
              <a:rPr lang="en-ZA" dirty="0"/>
            </a:br>
            <a:r>
              <a:rPr lang="en-ZA" dirty="0"/>
              <a:t>Cost and Performance review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D7924-21E2-47F4-2F1E-384AB5524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ZA" dirty="0"/>
              <a:t>Identify drivers of high costs</a:t>
            </a:r>
          </a:p>
          <a:p>
            <a:r>
              <a:rPr lang="en-ZA" dirty="0"/>
              <a:t>Spot inefficiencies</a:t>
            </a:r>
          </a:p>
          <a:p>
            <a:r>
              <a:rPr lang="en-ZA" dirty="0"/>
              <a:t>Recommend Improvements</a:t>
            </a:r>
          </a:p>
          <a:p>
            <a:endParaRPr lang="en-ZA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072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A621F-CD8E-63D0-13B3-FB5D597A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ZA" dirty="0"/>
              <a:t>Where is the demand  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EF2F73-F3D1-9E8C-DEEA-9178AD2DB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97" y="2540000"/>
            <a:ext cx="5544324" cy="2124371"/>
          </a:xfrm>
          <a:prstGeom prst="rect">
            <a:avLst/>
          </a:prstGeom>
        </p:spPr>
      </p:pic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EDCFC-4D0D-9497-BEA5-4359D66DAC53}"/>
              </a:ext>
            </a:extLst>
          </p:cNvPr>
          <p:cNvSpPr txBox="1"/>
          <p:nvPr/>
        </p:nvSpPr>
        <p:spPr>
          <a:xfrm>
            <a:off x="8495607" y="1587731"/>
            <a:ext cx="25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42326-A643-EF50-3C8D-2F73CE4114FD}"/>
              </a:ext>
            </a:extLst>
          </p:cNvPr>
          <p:cNvSpPr txBox="1"/>
          <p:nvPr/>
        </p:nvSpPr>
        <p:spPr>
          <a:xfrm>
            <a:off x="7273636" y="2352502"/>
            <a:ext cx="513794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ZA" dirty="0"/>
              <a:t>The morning shift has the highest calls</a:t>
            </a:r>
          </a:p>
          <a:p>
            <a:r>
              <a:rPr lang="en-ZA" dirty="0"/>
              <a:t>    handled, while the evening has the</a:t>
            </a:r>
          </a:p>
          <a:p>
            <a:r>
              <a:rPr lang="en-ZA" dirty="0"/>
              <a:t>    least.</a:t>
            </a:r>
          </a:p>
          <a:p>
            <a:endParaRPr lang="en-ZA" dirty="0"/>
          </a:p>
          <a:p>
            <a:pPr marL="285750" indent="-285750">
              <a:buFontTx/>
              <a:buChar char="-"/>
            </a:pPr>
            <a:r>
              <a:rPr lang="en-ZA" dirty="0"/>
              <a:t>This clearly shows when the most demand </a:t>
            </a:r>
          </a:p>
          <a:p>
            <a:r>
              <a:rPr lang="en-ZA" dirty="0"/>
              <a:t>    is and which shifts to invest more overtime </a:t>
            </a:r>
          </a:p>
          <a:p>
            <a:r>
              <a:rPr lang="en-ZA" dirty="0"/>
              <a:t>    hours in.</a:t>
            </a:r>
          </a:p>
        </p:txBody>
      </p:sp>
    </p:spTree>
    <p:extLst>
      <p:ext uri="{BB962C8B-B14F-4D97-AF65-F5344CB8AC3E}">
        <p14:creationId xmlns:p14="http://schemas.microsoft.com/office/powerpoint/2010/main" val="2376904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974D5-B8A6-2806-6F21-462C656D8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ZA" dirty="0"/>
              <a:t>Overtime hours Invested in shifts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F2476B-1290-6DC7-2860-D8A3A3D2E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97" y="2447788"/>
            <a:ext cx="6341974" cy="3800612"/>
          </a:xfrm>
          <a:prstGeom prst="rect">
            <a:avLst/>
          </a:prstGeom>
        </p:spPr>
      </p:pic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070ED-2E55-B23F-9521-F318698C9485}"/>
              </a:ext>
            </a:extLst>
          </p:cNvPr>
          <p:cNvSpPr txBox="1"/>
          <p:nvPr/>
        </p:nvSpPr>
        <p:spPr>
          <a:xfrm>
            <a:off x="8079971" y="3167149"/>
            <a:ext cx="40014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ZA" dirty="0"/>
              <a:t>Afternoon has highest overtime </a:t>
            </a:r>
          </a:p>
          <a:p>
            <a:r>
              <a:rPr lang="en-ZA" dirty="0"/>
              <a:t>    hours.</a:t>
            </a:r>
          </a:p>
          <a:p>
            <a:pPr marL="285750" indent="-285750">
              <a:buFontTx/>
              <a:buChar char="-"/>
            </a:pPr>
            <a:r>
              <a:rPr lang="en-ZA" dirty="0"/>
              <a:t>Contrary to the first observation,</a:t>
            </a:r>
          </a:p>
          <a:p>
            <a:r>
              <a:rPr lang="en-ZA" dirty="0"/>
              <a:t>    mornings have the least overtime </a:t>
            </a:r>
          </a:p>
          <a:p>
            <a:r>
              <a:rPr lang="en-ZA" dirty="0"/>
              <a:t>    hours.</a:t>
            </a:r>
          </a:p>
          <a:p>
            <a:endParaRPr lang="en-ZA" dirty="0"/>
          </a:p>
          <a:p>
            <a:pPr marL="285750" indent="-285750">
              <a:buFontTx/>
              <a:buChar char="-"/>
            </a:pPr>
            <a:r>
              <a:rPr lang="en-ZA" dirty="0"/>
              <a:t>This shows an imbalance of shift </a:t>
            </a:r>
          </a:p>
          <a:p>
            <a:r>
              <a:rPr lang="en-ZA" dirty="0"/>
              <a:t>    priority as well as inefficiency.</a:t>
            </a:r>
          </a:p>
        </p:txBody>
      </p:sp>
    </p:spTree>
    <p:extLst>
      <p:ext uri="{BB962C8B-B14F-4D97-AF65-F5344CB8AC3E}">
        <p14:creationId xmlns:p14="http://schemas.microsoft.com/office/powerpoint/2010/main" val="130512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5BDEE-A99E-2A59-1C40-2FCDBA52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ZA" dirty="0"/>
              <a:t>Team Performance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A239D2-0B25-947D-54B7-F6E6CE530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14" y="2089662"/>
            <a:ext cx="9839483" cy="1339337"/>
          </a:xfrm>
          <a:prstGeom prst="rect">
            <a:avLst/>
          </a:prstGeom>
        </p:spPr>
      </p:pic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654C8-5181-C99A-ECDD-49DDDC15B3F8}"/>
              </a:ext>
            </a:extLst>
          </p:cNvPr>
          <p:cNvSpPr txBox="1"/>
          <p:nvPr/>
        </p:nvSpPr>
        <p:spPr>
          <a:xfrm>
            <a:off x="6176356" y="4131425"/>
            <a:ext cx="57629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- Team B has the highest average calls duration</a:t>
            </a:r>
          </a:p>
          <a:p>
            <a:r>
              <a:rPr lang="en-ZA" dirty="0"/>
              <a:t>- Team B has the highest average cost per call</a:t>
            </a:r>
          </a:p>
          <a:p>
            <a:r>
              <a:rPr lang="en-ZA" dirty="0"/>
              <a:t>- Team B a slightly high escalation rate</a:t>
            </a:r>
          </a:p>
          <a:p>
            <a:pPr marL="285750" indent="-285750">
              <a:buFontTx/>
              <a:buChar char="-"/>
            </a:pPr>
            <a:endParaRPr lang="en-ZA" dirty="0"/>
          </a:p>
          <a:p>
            <a:r>
              <a:rPr lang="en-ZA" dirty="0"/>
              <a:t>- This suggests more costs and inefficiency from Team</a:t>
            </a:r>
          </a:p>
          <a:p>
            <a:r>
              <a:rPr lang="en-ZA" dirty="0"/>
              <a:t>  B.</a:t>
            </a:r>
          </a:p>
        </p:txBody>
      </p:sp>
    </p:spTree>
    <p:extLst>
      <p:ext uri="{BB962C8B-B14F-4D97-AF65-F5344CB8AC3E}">
        <p14:creationId xmlns:p14="http://schemas.microsoft.com/office/powerpoint/2010/main" val="352013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44C4B-26DE-F739-36BA-909F7F6A6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ZA" dirty="0"/>
              <a:t>What is driving high costs?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99766-2334-E943-0FBE-F62AB5D6A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en-ZA" dirty="0"/>
              <a:t>Longer call durations increase costs.</a:t>
            </a:r>
          </a:p>
          <a:p>
            <a:r>
              <a:rPr lang="en-ZA" dirty="0"/>
              <a:t>Overtime is not aligned with demand.</a:t>
            </a:r>
          </a:p>
          <a:p>
            <a:r>
              <a:rPr lang="en-ZA" dirty="0"/>
              <a:t>High escalation times increase handling time.</a:t>
            </a:r>
          </a:p>
          <a:p>
            <a:endParaRPr lang="en-ZA" dirty="0"/>
          </a:p>
          <a:p>
            <a:r>
              <a:rPr lang="en-GB" dirty="0"/>
              <a:t>Team B’s average duration is 20% longer than Team C, with 9% higher cost per call.</a:t>
            </a:r>
            <a:endParaRPr lang="en-ZA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6212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B879C-BFA0-22BE-0257-0F026CA5F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ZA" sz="2800" dirty="0"/>
              <a:t>Recommendations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2360-FE0D-71F5-6555-DE3FA1B7E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en-ZA" dirty="0"/>
              <a:t>Review Team B call handling and provide training for better call handling.</a:t>
            </a:r>
          </a:p>
          <a:p>
            <a:r>
              <a:rPr lang="en-ZA" dirty="0"/>
              <a:t>Align staffing with peak demand. More overtime hours for the morning and afternoon shifts.                             - Focus more especially on team B, they put more hours in the least peak shift.</a:t>
            </a:r>
          </a:p>
          <a:p>
            <a:r>
              <a:rPr lang="en-GB" dirty="0"/>
              <a:t>Target agents with high escalation rates for coaching</a:t>
            </a:r>
            <a:endParaRPr lang="en-ZA" dirty="0"/>
          </a:p>
          <a:p>
            <a:endParaRPr lang="en-ZA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068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0984F-A624-86FE-6D67-8A40259F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ZA" dirty="0"/>
              <a:t>Risks and</a:t>
            </a:r>
            <a:br>
              <a:rPr lang="en-ZA" dirty="0"/>
            </a:br>
            <a:r>
              <a:rPr lang="en-ZA" dirty="0"/>
              <a:t>Assumptions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E5650-22E0-F3C7-D20E-37472D20A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 lnSpcReduction="10000"/>
          </a:bodyPr>
          <a:lstStyle/>
          <a:p>
            <a:r>
              <a:rPr lang="en-GB" dirty="0"/>
              <a:t>Risk 1 – Escalations May Reflect Complexity and not Poor Performance</a:t>
            </a:r>
          </a:p>
          <a:p>
            <a:r>
              <a:rPr lang="en-GB" dirty="0"/>
              <a:t>High escalation rates do not necessarily indicate poor     service quality. Some teams may handle more complex customer issues, which then require escalation.</a:t>
            </a:r>
          </a:p>
          <a:p>
            <a:endParaRPr lang="en-GB" dirty="0"/>
          </a:p>
          <a:p>
            <a:r>
              <a:rPr lang="en-GB" dirty="0"/>
              <a:t>Risk 2 – Call Complexity</a:t>
            </a:r>
          </a:p>
          <a:p>
            <a:r>
              <a:rPr lang="en-GB" dirty="0"/>
              <a:t>The dataset does not include a measure of call complexity. Longer duration or higher cost may suggest more difficult cases rather than inefficiency.</a:t>
            </a:r>
          </a:p>
          <a:p>
            <a:endParaRPr lang="en-ZA" dirty="0"/>
          </a:p>
          <a:p>
            <a:r>
              <a:rPr lang="en-GB" dirty="0"/>
              <a:t>Risk 3 – Timeframe Limitation</a:t>
            </a:r>
          </a:p>
          <a:p>
            <a:r>
              <a:rPr lang="en-GB" dirty="0"/>
              <a:t>The analysis is based on the available time period and may not reflect long-term trends or seasonal variation.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51260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286</TotalTime>
  <Words>379</Words>
  <Application>Microsoft Office PowerPoint</Application>
  <PresentationFormat>Widescreen</PresentationFormat>
  <Paragraphs>59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Trebuchet MS</vt:lpstr>
      <vt:lpstr>Wingdings 3</vt:lpstr>
      <vt:lpstr>Facet</vt:lpstr>
      <vt:lpstr>ConnectTel Call Centre</vt:lpstr>
      <vt:lpstr>TABLE OF CONTENTS</vt:lpstr>
      <vt:lpstr>Objectives Cost and Performance review</vt:lpstr>
      <vt:lpstr>Where is the demand  </vt:lpstr>
      <vt:lpstr>Overtime hours Invested in shifts</vt:lpstr>
      <vt:lpstr>Team Performance</vt:lpstr>
      <vt:lpstr>What is driving high costs?</vt:lpstr>
      <vt:lpstr>Recommendations</vt:lpstr>
      <vt:lpstr>Risks and Assumptions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Rea Tsotetsi</dc:creator>
  <cp:lastModifiedBy>Rea Tsotetsi</cp:lastModifiedBy>
  <cp:revision>7</cp:revision>
  <dcterms:created xsi:type="dcterms:W3CDTF">2026-02-20T00:07:54Z</dcterms:created>
  <dcterms:modified xsi:type="dcterms:W3CDTF">2026-02-20T13:10:22Z</dcterms:modified>
</cp:coreProperties>
</file>